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MT Bold" charset="1" panose="02030802070405020303"/>
      <p:regular r:id="rId19"/>
    </p:embeddedFont>
    <p:embeddedFont>
      <p:font typeface="Times New Roman MT" charset="1" panose="02030502070405020303"/>
      <p:regular r:id="rId20"/>
    </p:embeddedFont>
    <p:embeddedFont>
      <p:font typeface="Raleway" charset="1" panose="00000000000000000000"/>
      <p:regular r:id="rId22"/>
    </p:embeddedFont>
    <p:embeddedFont>
      <p:font typeface="Roboto" charset="1" panose="02000000000000000000"/>
      <p:regular r:id="rId23"/>
    </p:embeddedFont>
    <p:embeddedFont>
      <p:font typeface="Raleway Light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7.jpe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783133" y="0"/>
            <a:ext cx="6721733" cy="3098812"/>
          </a:xfrm>
          <a:custGeom>
            <a:avLst/>
            <a:gdLst/>
            <a:ahLst/>
            <a:cxnLst/>
            <a:rect r="r" b="b" t="t" l="l"/>
            <a:pathLst>
              <a:path h="3098812" w="6721733">
                <a:moveTo>
                  <a:pt x="0" y="0"/>
                </a:moveTo>
                <a:lnTo>
                  <a:pt x="6721734" y="0"/>
                </a:lnTo>
                <a:lnTo>
                  <a:pt x="6721734" y="3098812"/>
                </a:lnTo>
                <a:lnTo>
                  <a:pt x="0" y="3098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8456" r="0" b="-5845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6405" y="4623752"/>
            <a:ext cx="14446914" cy="385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Internship topic : 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practical study of cybersecurity fundamentals, vulnerabilitiy assesmenmt and security awareness</a:t>
            </a:r>
          </a:p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Student name: 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Divyansh sikarwar</a:t>
            </a:r>
          </a:p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Enrollment Number: 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CS-23411624</a:t>
            </a:r>
          </a:p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Semester: 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Semester</a:t>
            </a:r>
          </a:p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Organisation Name: </a:t>
            </a:r>
            <a:r>
              <a:rPr lang="en-US" sz="311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Code alpha</a:t>
            </a:r>
          </a:p>
          <a:p>
            <a:pPr algn="ctr">
              <a:lnSpc>
                <a:spcPts val="39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805215"/>
            <a:ext cx="9452677" cy="87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About the Internship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8219" y="2055581"/>
            <a:ext cx="9462211" cy="1562576"/>
            <a:chOff x="0" y="0"/>
            <a:chExt cx="12616282" cy="20834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16307" cy="2083435"/>
            </a:xfrm>
            <a:custGeom>
              <a:avLst/>
              <a:gdLst/>
              <a:ahLst/>
              <a:cxnLst/>
              <a:rect r="r" b="b" t="t" l="l"/>
              <a:pathLst>
                <a:path h="2083435" w="12616307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2464415" y="0"/>
                  </a:lnTo>
                  <a:cubicBezTo>
                    <a:pt x="12548235" y="0"/>
                    <a:pt x="12616307" y="67945"/>
                    <a:pt x="12616307" y="151892"/>
                  </a:cubicBezTo>
                  <a:lnTo>
                    <a:pt x="12616307" y="1931543"/>
                  </a:lnTo>
                  <a:cubicBezTo>
                    <a:pt x="12616307" y="2015363"/>
                    <a:pt x="12548362" y="2083435"/>
                    <a:pt x="12464415" y="2083435"/>
                  </a:cubicBezTo>
                  <a:lnTo>
                    <a:pt x="151892" y="2083435"/>
                  </a:lnTo>
                  <a:cubicBezTo>
                    <a:pt x="67945" y="2083435"/>
                    <a:pt x="0" y="2015490"/>
                    <a:pt x="0" y="1931543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71959" y="2320271"/>
            <a:ext cx="8894740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Organization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959" y="2837755"/>
            <a:ext cx="8894740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CodeAlpha Virtual Internship Program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8219" y="3864664"/>
            <a:ext cx="9462211" cy="1562576"/>
            <a:chOff x="0" y="0"/>
            <a:chExt cx="12616282" cy="20834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16307" cy="2083435"/>
            </a:xfrm>
            <a:custGeom>
              <a:avLst/>
              <a:gdLst/>
              <a:ahLst/>
              <a:cxnLst/>
              <a:rect r="r" b="b" t="t" l="l"/>
              <a:pathLst>
                <a:path h="2083435" w="12616307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2464415" y="0"/>
                  </a:lnTo>
                  <a:cubicBezTo>
                    <a:pt x="12548235" y="0"/>
                    <a:pt x="12616307" y="67945"/>
                    <a:pt x="12616307" y="151892"/>
                  </a:cubicBezTo>
                  <a:lnTo>
                    <a:pt x="12616307" y="1931543"/>
                  </a:lnTo>
                  <a:cubicBezTo>
                    <a:pt x="12616307" y="2015363"/>
                    <a:pt x="12548362" y="2083435"/>
                    <a:pt x="12464415" y="2083435"/>
                  </a:cubicBezTo>
                  <a:lnTo>
                    <a:pt x="151892" y="2083435"/>
                  </a:lnTo>
                  <a:cubicBezTo>
                    <a:pt x="67945" y="2083435"/>
                    <a:pt x="0" y="2015490"/>
                    <a:pt x="0" y="1931543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71959" y="4129354"/>
            <a:ext cx="8894740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Duration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959" y="4646828"/>
            <a:ext cx="8894740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1st July 2026 – 31st July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8219" y="5673747"/>
            <a:ext cx="9462211" cy="1983048"/>
            <a:chOff x="0" y="0"/>
            <a:chExt cx="12616282" cy="2644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16180" cy="2644013"/>
            </a:xfrm>
            <a:custGeom>
              <a:avLst/>
              <a:gdLst/>
              <a:ahLst/>
              <a:cxnLst/>
              <a:rect r="r" b="b" t="t" l="l"/>
              <a:pathLst>
                <a:path h="2644013" w="12616180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12464542" y="0"/>
                  </a:lnTo>
                  <a:cubicBezTo>
                    <a:pt x="12548362" y="0"/>
                    <a:pt x="12616180" y="67945"/>
                    <a:pt x="12616180" y="151638"/>
                  </a:cubicBezTo>
                  <a:lnTo>
                    <a:pt x="12616180" y="2492375"/>
                  </a:lnTo>
                  <a:cubicBezTo>
                    <a:pt x="12616180" y="2576195"/>
                    <a:pt x="12548236" y="2644013"/>
                    <a:pt x="12464542" y="2644013"/>
                  </a:cubicBezTo>
                  <a:lnTo>
                    <a:pt x="151638" y="2644013"/>
                  </a:lnTo>
                  <a:cubicBezTo>
                    <a:pt x="67945" y="2644013"/>
                    <a:pt x="0" y="2576195"/>
                    <a:pt x="0" y="2492375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71959" y="5938428"/>
            <a:ext cx="8894740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Focus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1959" y="6455912"/>
            <a:ext cx="8894740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Cybersecurity fundamentals, vulnerability assessment, and security awareness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8219" y="7903293"/>
            <a:ext cx="9462211" cy="1562576"/>
            <a:chOff x="0" y="0"/>
            <a:chExt cx="12616282" cy="20834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16307" cy="2083435"/>
            </a:xfrm>
            <a:custGeom>
              <a:avLst/>
              <a:gdLst/>
              <a:ahLst/>
              <a:cxnLst/>
              <a:rect r="r" b="b" t="t" l="l"/>
              <a:pathLst>
                <a:path h="2083435" w="12616307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12464415" y="0"/>
                  </a:lnTo>
                  <a:cubicBezTo>
                    <a:pt x="12548235" y="0"/>
                    <a:pt x="12616307" y="67945"/>
                    <a:pt x="12616307" y="151892"/>
                  </a:cubicBezTo>
                  <a:lnTo>
                    <a:pt x="12616307" y="1931543"/>
                  </a:lnTo>
                  <a:cubicBezTo>
                    <a:pt x="12616307" y="2015363"/>
                    <a:pt x="12548362" y="2083435"/>
                    <a:pt x="12464415" y="2083435"/>
                  </a:cubicBezTo>
                  <a:lnTo>
                    <a:pt x="151892" y="2083435"/>
                  </a:lnTo>
                  <a:cubicBezTo>
                    <a:pt x="67945" y="2083435"/>
                    <a:pt x="0" y="2015490"/>
                    <a:pt x="0" y="1931543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71959" y="8167983"/>
            <a:ext cx="8894740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Objective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1959" y="8685457"/>
            <a:ext cx="8894740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Practical exposure to protecting digital systems from cyber threats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216152"/>
            <a:ext cx="5350545" cy="144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Learning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2862710"/>
            <a:ext cx="520255" cy="520265"/>
            <a:chOff x="0" y="0"/>
            <a:chExt cx="693674" cy="6936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3674" cy="693674"/>
            </a:xfrm>
            <a:custGeom>
              <a:avLst/>
              <a:gdLst/>
              <a:ahLst/>
              <a:cxnLst/>
              <a:rect r="r" b="b" t="t" l="l"/>
              <a:pathLst>
                <a:path h="693674" w="693674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564134" y="0"/>
                  </a:lnTo>
                  <a:cubicBezTo>
                    <a:pt x="635635" y="0"/>
                    <a:pt x="693674" y="58039"/>
                    <a:pt x="693674" y="129540"/>
                  </a:cubicBezTo>
                  <a:lnTo>
                    <a:pt x="693674" y="564134"/>
                  </a:lnTo>
                  <a:cubicBezTo>
                    <a:pt x="693674" y="635635"/>
                    <a:pt x="635635" y="693674"/>
                    <a:pt x="564134" y="693674"/>
                  </a:cubicBezTo>
                  <a:lnTo>
                    <a:pt x="129540" y="693674"/>
                  </a:lnTo>
                  <a:cubicBezTo>
                    <a:pt x="58039" y="693674"/>
                    <a:pt x="0" y="635762"/>
                    <a:pt x="0" y="5641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78030" y="2910002"/>
            <a:ext cx="340481" cy="425539"/>
            <a:chOff x="0" y="0"/>
            <a:chExt cx="453974" cy="5673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3971" cy="567379"/>
            </a:xfrm>
            <a:custGeom>
              <a:avLst/>
              <a:gdLst/>
              <a:ahLst/>
              <a:cxnLst/>
              <a:rect r="r" b="b" t="t" l="l"/>
              <a:pathLst>
                <a:path h="567379" w="453971">
                  <a:moveTo>
                    <a:pt x="0" y="0"/>
                  </a:moveTo>
                  <a:lnTo>
                    <a:pt x="453971" y="0"/>
                  </a:lnTo>
                  <a:lnTo>
                    <a:pt x="453971" y="567379"/>
                  </a:lnTo>
                  <a:lnTo>
                    <a:pt x="0" y="567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56" t="0" r="-110357" b="-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53974" cy="576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85268" y="2926328"/>
            <a:ext cx="465826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CIA Triad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5268" y="3443478"/>
            <a:ext cx="4658268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 fundamental principles of cybersecurity and the CIA triad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219" y="4493504"/>
            <a:ext cx="520255" cy="520265"/>
            <a:chOff x="0" y="0"/>
            <a:chExt cx="693674" cy="6936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3674" cy="693674"/>
            </a:xfrm>
            <a:custGeom>
              <a:avLst/>
              <a:gdLst/>
              <a:ahLst/>
              <a:cxnLst/>
              <a:rect r="r" b="b" t="t" l="l"/>
              <a:pathLst>
                <a:path h="693674" w="693674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564134" y="0"/>
                  </a:lnTo>
                  <a:cubicBezTo>
                    <a:pt x="635635" y="0"/>
                    <a:pt x="693674" y="58039"/>
                    <a:pt x="693674" y="129540"/>
                  </a:cubicBezTo>
                  <a:lnTo>
                    <a:pt x="693674" y="564134"/>
                  </a:lnTo>
                  <a:cubicBezTo>
                    <a:pt x="693674" y="635635"/>
                    <a:pt x="635635" y="693674"/>
                    <a:pt x="564134" y="693674"/>
                  </a:cubicBezTo>
                  <a:lnTo>
                    <a:pt x="129540" y="693674"/>
                  </a:lnTo>
                  <a:cubicBezTo>
                    <a:pt x="58039" y="693674"/>
                    <a:pt x="0" y="635762"/>
                    <a:pt x="0" y="5641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78030" y="4540796"/>
            <a:ext cx="340481" cy="425539"/>
            <a:chOff x="0" y="0"/>
            <a:chExt cx="453974" cy="5673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971" cy="567379"/>
            </a:xfrm>
            <a:custGeom>
              <a:avLst/>
              <a:gdLst/>
              <a:ahLst/>
              <a:cxnLst/>
              <a:rect r="r" b="b" t="t" l="l"/>
              <a:pathLst>
                <a:path h="567379" w="453971">
                  <a:moveTo>
                    <a:pt x="0" y="0"/>
                  </a:moveTo>
                  <a:lnTo>
                    <a:pt x="453971" y="0"/>
                  </a:lnTo>
                  <a:lnTo>
                    <a:pt x="453971" y="567379"/>
                  </a:lnTo>
                  <a:lnTo>
                    <a:pt x="0" y="567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56" t="0" r="-110357" b="-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53974" cy="576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85268" y="4557122"/>
            <a:ext cx="465826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Threats &amp; Attack Vectors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5268" y="5074272"/>
            <a:ext cx="4658268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Study common cyber threats, attack vectors and security risks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8219" y="6124299"/>
            <a:ext cx="520255" cy="520265"/>
            <a:chOff x="0" y="0"/>
            <a:chExt cx="693674" cy="6936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3674" cy="693674"/>
            </a:xfrm>
            <a:custGeom>
              <a:avLst/>
              <a:gdLst/>
              <a:ahLst/>
              <a:cxnLst/>
              <a:rect r="r" b="b" t="t" l="l"/>
              <a:pathLst>
                <a:path h="693674" w="693674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564134" y="0"/>
                  </a:lnTo>
                  <a:cubicBezTo>
                    <a:pt x="635635" y="0"/>
                    <a:pt x="693674" y="58039"/>
                    <a:pt x="693674" y="129540"/>
                  </a:cubicBezTo>
                  <a:lnTo>
                    <a:pt x="693674" y="564134"/>
                  </a:lnTo>
                  <a:cubicBezTo>
                    <a:pt x="693674" y="635635"/>
                    <a:pt x="635635" y="693674"/>
                    <a:pt x="564134" y="693674"/>
                  </a:cubicBezTo>
                  <a:lnTo>
                    <a:pt x="129540" y="693674"/>
                  </a:lnTo>
                  <a:cubicBezTo>
                    <a:pt x="58039" y="693674"/>
                    <a:pt x="0" y="635762"/>
                    <a:pt x="0" y="5641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78030" y="6171590"/>
            <a:ext cx="340481" cy="425539"/>
            <a:chOff x="0" y="0"/>
            <a:chExt cx="453974" cy="5673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971" cy="567379"/>
            </a:xfrm>
            <a:custGeom>
              <a:avLst/>
              <a:gdLst/>
              <a:ahLst/>
              <a:cxnLst/>
              <a:rect r="r" b="b" t="t" l="l"/>
              <a:pathLst>
                <a:path h="567379" w="453971">
                  <a:moveTo>
                    <a:pt x="0" y="0"/>
                  </a:moveTo>
                  <a:lnTo>
                    <a:pt x="453971" y="0"/>
                  </a:lnTo>
                  <a:lnTo>
                    <a:pt x="453971" y="567379"/>
                  </a:lnTo>
                  <a:lnTo>
                    <a:pt x="0" y="567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56" t="0" r="-110357" b="-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53974" cy="576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85268" y="6187916"/>
            <a:ext cx="465826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Vulnerability Assessment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5268" y="6705067"/>
            <a:ext cx="4658268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Learn vulnerability assessment and security-testing concepts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8219" y="7755093"/>
            <a:ext cx="520255" cy="520265"/>
            <a:chOff x="0" y="0"/>
            <a:chExt cx="693674" cy="69368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3674" cy="693674"/>
            </a:xfrm>
            <a:custGeom>
              <a:avLst/>
              <a:gdLst/>
              <a:ahLst/>
              <a:cxnLst/>
              <a:rect r="r" b="b" t="t" l="l"/>
              <a:pathLst>
                <a:path h="693674" w="693674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564134" y="0"/>
                  </a:lnTo>
                  <a:cubicBezTo>
                    <a:pt x="635635" y="0"/>
                    <a:pt x="693674" y="58039"/>
                    <a:pt x="693674" y="129540"/>
                  </a:cubicBezTo>
                  <a:lnTo>
                    <a:pt x="693674" y="564134"/>
                  </a:lnTo>
                  <a:cubicBezTo>
                    <a:pt x="693674" y="635635"/>
                    <a:pt x="635635" y="693674"/>
                    <a:pt x="564134" y="693674"/>
                  </a:cubicBezTo>
                  <a:lnTo>
                    <a:pt x="129540" y="693674"/>
                  </a:lnTo>
                  <a:cubicBezTo>
                    <a:pt x="58039" y="693674"/>
                    <a:pt x="0" y="635762"/>
                    <a:pt x="0" y="564134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78030" y="7802385"/>
            <a:ext cx="340481" cy="425539"/>
            <a:chOff x="0" y="0"/>
            <a:chExt cx="453974" cy="5673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3971" cy="567379"/>
            </a:xfrm>
            <a:custGeom>
              <a:avLst/>
              <a:gdLst/>
              <a:ahLst/>
              <a:cxnLst/>
              <a:rect r="r" b="b" t="t" l="l"/>
              <a:pathLst>
                <a:path h="567379" w="453971">
                  <a:moveTo>
                    <a:pt x="0" y="0"/>
                  </a:moveTo>
                  <a:lnTo>
                    <a:pt x="453971" y="0"/>
                  </a:lnTo>
                  <a:lnTo>
                    <a:pt x="453971" y="567379"/>
                  </a:lnTo>
                  <a:lnTo>
                    <a:pt x="0" y="567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56" t="0" r="-110357" b="-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53974" cy="576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2"/>
                </a:lnSpc>
              </a:pPr>
              <a:r>
                <a:rPr lang="en-US" sz="262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85268" y="7818711"/>
            <a:ext cx="4658268" cy="3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Authentication &amp; Access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5268" y="8335861"/>
            <a:ext cx="4658268" cy="69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Master secure authentication, password security and access control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47927" y="2787501"/>
            <a:ext cx="8329070" cy="4719904"/>
            <a:chOff x="0" y="0"/>
            <a:chExt cx="11105426" cy="6293206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1105388" cy="6293231"/>
            </a:xfrm>
            <a:custGeom>
              <a:avLst/>
              <a:gdLst/>
              <a:ahLst/>
              <a:cxnLst/>
              <a:rect r="r" b="b" t="t" l="l"/>
              <a:pathLst>
                <a:path h="6293231" w="11105388">
                  <a:moveTo>
                    <a:pt x="0" y="0"/>
                  </a:moveTo>
                  <a:lnTo>
                    <a:pt x="11105388" y="0"/>
                  </a:lnTo>
                  <a:lnTo>
                    <a:pt x="11105388" y="6293231"/>
                  </a:lnTo>
                  <a:lnTo>
                    <a:pt x="0" y="6293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3" r="0" b="-7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626651"/>
            <a:ext cx="1631586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Security Challenges Addressed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3118895"/>
            <a:ext cx="5249418" cy="2619184"/>
          </a:xfrm>
          <a:custGeom>
            <a:avLst/>
            <a:gdLst/>
            <a:ahLst/>
            <a:cxnLst/>
            <a:rect r="r" b="b" t="t" l="l"/>
            <a:pathLst>
              <a:path h="2619184" w="5249418">
                <a:moveTo>
                  <a:pt x="0" y="0"/>
                </a:moveTo>
                <a:lnTo>
                  <a:pt x="5249418" y="0"/>
                </a:lnTo>
                <a:lnTo>
                  <a:pt x="5249418" y="2619184"/>
                </a:lnTo>
                <a:lnTo>
                  <a:pt x="0" y="261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67364" y="3421713"/>
            <a:ext cx="445317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Vulnerability Identification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7364" y="3968544"/>
            <a:ext cx="4453176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Identifying common vulnerabilities before exploitation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26139" y="3118895"/>
            <a:ext cx="5249418" cy="2619184"/>
          </a:xfrm>
          <a:custGeom>
            <a:avLst/>
            <a:gdLst/>
            <a:ahLst/>
            <a:cxnLst/>
            <a:rect r="r" b="b" t="t" l="l"/>
            <a:pathLst>
              <a:path h="2619184" w="5249418">
                <a:moveTo>
                  <a:pt x="0" y="0"/>
                </a:moveTo>
                <a:lnTo>
                  <a:pt x="5249418" y="0"/>
                </a:lnTo>
                <a:lnTo>
                  <a:pt x="5249418" y="2619184"/>
                </a:lnTo>
                <a:lnTo>
                  <a:pt x="0" y="261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00513" y="3421713"/>
            <a:ext cx="445317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Weak Authentication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0513" y="3968544"/>
            <a:ext cx="4453176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Understanding weak authentication and poor access control risks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59288" y="3118895"/>
            <a:ext cx="5249418" cy="2619184"/>
          </a:xfrm>
          <a:custGeom>
            <a:avLst/>
            <a:gdLst/>
            <a:ahLst/>
            <a:cxnLst/>
            <a:rect r="r" b="b" t="t" l="l"/>
            <a:pathLst>
              <a:path h="2619184" w="5249418">
                <a:moveTo>
                  <a:pt x="0" y="0"/>
                </a:moveTo>
                <a:lnTo>
                  <a:pt x="5249418" y="0"/>
                </a:lnTo>
                <a:lnTo>
                  <a:pt x="5249418" y="2619184"/>
                </a:lnTo>
                <a:lnTo>
                  <a:pt x="0" y="2619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5" r="0" b="-10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533662" y="3421713"/>
            <a:ext cx="445317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Network Exposure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33662" y="3968544"/>
            <a:ext cx="4453176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Recognising insecure network exposure and unnecessary services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6021829"/>
            <a:ext cx="5249418" cy="2608469"/>
          </a:xfrm>
          <a:custGeom>
            <a:avLst/>
            <a:gdLst/>
            <a:ahLst/>
            <a:cxnLst/>
            <a:rect r="r" b="b" t="t" l="l"/>
            <a:pathLst>
              <a:path h="2608469" w="5249418">
                <a:moveTo>
                  <a:pt x="0" y="0"/>
                </a:moveTo>
                <a:lnTo>
                  <a:pt x="5249418" y="0"/>
                </a:lnTo>
                <a:lnTo>
                  <a:pt x="5249418" y="2608469"/>
                </a:lnTo>
                <a:lnTo>
                  <a:pt x="0" y="26084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" r="0" b="-12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67364" y="6324648"/>
            <a:ext cx="4453176" cy="90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Phishing &amp; Social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7364" y="7314733"/>
            <a:ext cx="4453176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Detecting phishing and social-engineering indicators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26139" y="6021829"/>
            <a:ext cx="5249418" cy="2608469"/>
          </a:xfrm>
          <a:custGeom>
            <a:avLst/>
            <a:gdLst/>
            <a:ahLst/>
            <a:cxnLst/>
            <a:rect r="r" b="b" t="t" l="l"/>
            <a:pathLst>
              <a:path h="2608469" w="5249418">
                <a:moveTo>
                  <a:pt x="0" y="0"/>
                </a:moveTo>
                <a:lnTo>
                  <a:pt x="5249418" y="0"/>
                </a:lnTo>
                <a:lnTo>
                  <a:pt x="5249418" y="2608469"/>
                </a:lnTo>
                <a:lnTo>
                  <a:pt x="0" y="26084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" r="0" b="-12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000513" y="6324648"/>
            <a:ext cx="445317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Risk Prioritisation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00513" y="6871468"/>
            <a:ext cx="4453176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Prioritising security findings by likelihood and impact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740151"/>
            <a:ext cx="1631586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Technologies &amp; Concepts Covered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3232394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998" r="0" b="-199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4277258"/>
            <a:ext cx="798054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Networking Fundamentals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4824079"/>
            <a:ext cx="798054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IP addressing, ports, protocols, firewalls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28156" y="3232394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8156" y="4277258"/>
            <a:ext cx="7980693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Web Security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8156" y="4824079"/>
            <a:ext cx="7980693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Authentication, authorization, input validation, session management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6385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001" t="0" r="-600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991" y="7430110"/>
            <a:ext cx="798054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Vulnerability Assessment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7976940"/>
            <a:ext cx="798054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Identifying, classifying and documenting weaknesses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28156" y="6385255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668" t="0" r="-466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28156" y="7430110"/>
            <a:ext cx="7980693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Security Awareness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8156" y="7976940"/>
            <a:ext cx="7980693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Phishing, social engineering, credential protection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12341" y="1146572"/>
            <a:ext cx="9348416" cy="4100741"/>
            <a:chOff x="0" y="0"/>
            <a:chExt cx="12464555" cy="546765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464542" cy="5467604"/>
            </a:xfrm>
            <a:custGeom>
              <a:avLst/>
              <a:gdLst/>
              <a:ahLst/>
              <a:cxnLst/>
              <a:rect r="r" b="b" t="t" l="l"/>
              <a:pathLst>
                <a:path h="5467604" w="12464542">
                  <a:moveTo>
                    <a:pt x="0" y="0"/>
                  </a:moveTo>
                  <a:lnTo>
                    <a:pt x="12464542" y="0"/>
                  </a:lnTo>
                  <a:lnTo>
                    <a:pt x="12464542" y="5467604"/>
                  </a:lnTo>
                  <a:lnTo>
                    <a:pt x="0" y="5467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8" r="0" b="-7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45476" y="3705444"/>
            <a:ext cx="1412862" cy="52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Reconnaissance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45476" y="4292889"/>
            <a:ext cx="1412862" cy="58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6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Collect service and configuration information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33790" y="3958428"/>
            <a:ext cx="1412853" cy="272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Risk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3790" y="4292889"/>
            <a:ext cx="1412853" cy="58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6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Assess impact and likelihood of findings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0783" y="1496092"/>
            <a:ext cx="1412853" cy="52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Asset Identification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0783" y="2083527"/>
            <a:ext cx="1412853" cy="58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6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 apps, endpoints, users and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21113" y="1496092"/>
            <a:ext cx="1412853" cy="52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7"/>
              </a:lnSpc>
            </a:pPr>
            <a:r>
              <a:rPr lang="en-US" sz="1576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Vulnerability Identification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21113" y="2083527"/>
            <a:ext cx="1412853" cy="58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6"/>
              </a:lnSpc>
            </a:pPr>
            <a:r>
              <a:rPr lang="en-US"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Review weaknesses using security checks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12673" y="1285713"/>
            <a:ext cx="5305568" cy="2422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Security Architecture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12673" y="3871570"/>
            <a:ext cx="5305568" cy="123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internship introduced a structured four-stage approach to understanding how security assessments are conducted in practice.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991" y="5764454"/>
            <a:ext cx="510721" cy="319192"/>
            <a:chOff x="0" y="0"/>
            <a:chExt cx="680961" cy="4255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958" cy="425584"/>
            </a:xfrm>
            <a:custGeom>
              <a:avLst/>
              <a:gdLst/>
              <a:ahLst/>
              <a:cxnLst/>
              <a:rect r="r" b="b" t="t" l="l"/>
              <a:pathLst>
                <a:path h="425584" w="680958">
                  <a:moveTo>
                    <a:pt x="0" y="0"/>
                  </a:moveTo>
                  <a:lnTo>
                    <a:pt x="680958" y="0"/>
                  </a:lnTo>
                  <a:lnTo>
                    <a:pt x="680958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7" t="0" r="-30188" b="-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80961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2991" y="6169724"/>
            <a:ext cx="8042948" cy="28594"/>
            <a:chOff x="0" y="0"/>
            <a:chExt cx="10723931" cy="38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23880" cy="38100"/>
            </a:xfrm>
            <a:custGeom>
              <a:avLst/>
              <a:gdLst/>
              <a:ahLst/>
              <a:cxnLst/>
              <a:rect r="r" b="b" t="t" l="l"/>
              <a:pathLst>
                <a:path h="38100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991" y="6335516"/>
            <a:ext cx="8042948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Asset Identification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991" y="6824539"/>
            <a:ext cx="8042948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 applications, endpoints, users and data requiring protection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65758" y="5764454"/>
            <a:ext cx="510721" cy="319192"/>
            <a:chOff x="0" y="0"/>
            <a:chExt cx="680961" cy="4255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958" cy="425584"/>
            </a:xfrm>
            <a:custGeom>
              <a:avLst/>
              <a:gdLst/>
              <a:ahLst/>
              <a:cxnLst/>
              <a:rect r="r" b="b" t="t" l="l"/>
              <a:pathLst>
                <a:path h="425584" w="680958">
                  <a:moveTo>
                    <a:pt x="0" y="0"/>
                  </a:moveTo>
                  <a:lnTo>
                    <a:pt x="680958" y="0"/>
                  </a:lnTo>
                  <a:lnTo>
                    <a:pt x="680958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7" t="0" r="-30188" b="-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80961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65758" y="6169724"/>
            <a:ext cx="8043100" cy="28594"/>
            <a:chOff x="0" y="0"/>
            <a:chExt cx="10724134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4134" cy="38100"/>
            </a:xfrm>
            <a:custGeom>
              <a:avLst/>
              <a:gdLst/>
              <a:ahLst/>
              <a:cxnLst/>
              <a:rect r="r" b="b" t="t" l="l"/>
              <a:pathLst>
                <a:path h="38100" w="10724134">
                  <a:moveTo>
                    <a:pt x="0" y="0"/>
                  </a:moveTo>
                  <a:lnTo>
                    <a:pt x="10724134" y="0"/>
                  </a:lnTo>
                  <a:lnTo>
                    <a:pt x="107241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65758" y="6335516"/>
            <a:ext cx="8043100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Reconnaissance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65758" y="6824539"/>
            <a:ext cx="8043100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Collect information about services and configurations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2991" y="7700582"/>
            <a:ext cx="510721" cy="319192"/>
            <a:chOff x="0" y="0"/>
            <a:chExt cx="680961" cy="4255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0958" cy="425584"/>
            </a:xfrm>
            <a:custGeom>
              <a:avLst/>
              <a:gdLst/>
              <a:ahLst/>
              <a:cxnLst/>
              <a:rect r="r" b="b" t="t" l="l"/>
              <a:pathLst>
                <a:path h="425584" w="680958">
                  <a:moveTo>
                    <a:pt x="0" y="0"/>
                  </a:moveTo>
                  <a:lnTo>
                    <a:pt x="680958" y="0"/>
                  </a:lnTo>
                  <a:lnTo>
                    <a:pt x="680958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7" t="0" r="-30188" b="-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80961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2991" y="8105861"/>
            <a:ext cx="8042948" cy="28594"/>
            <a:chOff x="0" y="0"/>
            <a:chExt cx="10723931" cy="381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3880" cy="38100"/>
            </a:xfrm>
            <a:custGeom>
              <a:avLst/>
              <a:gdLst/>
              <a:ahLst/>
              <a:cxnLst/>
              <a:rect r="r" b="b" t="t" l="l"/>
              <a:pathLst>
                <a:path h="38100" w="10723880">
                  <a:moveTo>
                    <a:pt x="0" y="0"/>
                  </a:moveTo>
                  <a:lnTo>
                    <a:pt x="10723880" y="0"/>
                  </a:lnTo>
                  <a:lnTo>
                    <a:pt x="107238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92991" y="8271643"/>
            <a:ext cx="8042948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Vulnerability Identification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991" y="8760666"/>
            <a:ext cx="8042948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Review weaknesses using security-checking techniques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65758" y="7700582"/>
            <a:ext cx="510721" cy="319192"/>
            <a:chOff x="0" y="0"/>
            <a:chExt cx="680961" cy="4255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0958" cy="425584"/>
            </a:xfrm>
            <a:custGeom>
              <a:avLst/>
              <a:gdLst/>
              <a:ahLst/>
              <a:cxnLst/>
              <a:rect r="r" b="b" t="t" l="l"/>
              <a:pathLst>
                <a:path h="425584" w="680958">
                  <a:moveTo>
                    <a:pt x="0" y="0"/>
                  </a:moveTo>
                  <a:lnTo>
                    <a:pt x="680958" y="0"/>
                  </a:lnTo>
                  <a:lnTo>
                    <a:pt x="680958" y="425584"/>
                  </a:lnTo>
                  <a:lnTo>
                    <a:pt x="0" y="4255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187" t="0" r="-30188" b="-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680961" cy="435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3C3939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04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65758" y="8105861"/>
            <a:ext cx="8043100" cy="28594"/>
            <a:chOff x="0" y="0"/>
            <a:chExt cx="10724134" cy="381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4134" cy="38100"/>
            </a:xfrm>
            <a:custGeom>
              <a:avLst/>
              <a:gdLst/>
              <a:ahLst/>
              <a:cxnLst/>
              <a:rect r="r" b="b" t="t" l="l"/>
              <a:pathLst>
                <a:path h="38100" w="10724134">
                  <a:moveTo>
                    <a:pt x="0" y="0"/>
                  </a:moveTo>
                  <a:lnTo>
                    <a:pt x="10724134" y="0"/>
                  </a:lnTo>
                  <a:lnTo>
                    <a:pt x="1072413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265758" y="8271643"/>
            <a:ext cx="8043100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Risk Analysis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65758" y="8760666"/>
            <a:ext cx="8043100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Assess impact and likelihood of each finding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19305"/>
            <a:ext cx="16315868" cy="782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Iterative Assessment Methodology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111435"/>
            <a:ext cx="1205827" cy="1447143"/>
            <a:chOff x="0" y="0"/>
            <a:chExt cx="1607769" cy="192952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07820" cy="1929511"/>
            </a:xfrm>
            <a:custGeom>
              <a:avLst/>
              <a:gdLst/>
              <a:ahLst/>
              <a:cxnLst/>
              <a:rect r="r" b="b" t="t" l="l"/>
              <a:pathLst>
                <a:path h="1929511" w="1607820">
                  <a:moveTo>
                    <a:pt x="0" y="0"/>
                  </a:moveTo>
                  <a:lnTo>
                    <a:pt x="1607820" y="0"/>
                  </a:lnTo>
                  <a:lnTo>
                    <a:pt x="1607820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6" t="0" r="-13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03758" y="2324005"/>
            <a:ext cx="14905101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Requirement Understanding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03758" y="2795140"/>
            <a:ext cx="14905101" cy="4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Define learning objectives and security scope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3558578"/>
            <a:ext cx="1205827" cy="1447143"/>
            <a:chOff x="0" y="0"/>
            <a:chExt cx="1607769" cy="192952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07820" cy="1929511"/>
            </a:xfrm>
            <a:custGeom>
              <a:avLst/>
              <a:gdLst/>
              <a:ahLst/>
              <a:cxnLst/>
              <a:rect r="r" b="b" t="t" l="l"/>
              <a:pathLst>
                <a:path h="1929511" w="1607820">
                  <a:moveTo>
                    <a:pt x="0" y="0"/>
                  </a:moveTo>
                  <a:lnTo>
                    <a:pt x="1607820" y="0"/>
                  </a:lnTo>
                  <a:lnTo>
                    <a:pt x="1607820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6" t="0" r="-13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03758" y="3771148"/>
            <a:ext cx="14905101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Asset &amp; Threat Understanding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03758" y="4242283"/>
            <a:ext cx="14905101" cy="4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Identify assets and likely threat sources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5005730"/>
            <a:ext cx="1205827" cy="1447143"/>
            <a:chOff x="0" y="0"/>
            <a:chExt cx="1607769" cy="192952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07820" cy="1929511"/>
            </a:xfrm>
            <a:custGeom>
              <a:avLst/>
              <a:gdLst/>
              <a:ahLst/>
              <a:cxnLst/>
              <a:rect r="r" b="b" t="t" l="l"/>
              <a:pathLst>
                <a:path h="1929511" w="1607820">
                  <a:moveTo>
                    <a:pt x="0" y="0"/>
                  </a:moveTo>
                  <a:lnTo>
                    <a:pt x="1607820" y="0"/>
                  </a:lnTo>
                  <a:lnTo>
                    <a:pt x="1607820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6" t="0" r="-133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03758" y="5218290"/>
            <a:ext cx="14905101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Vulnerability Identification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03758" y="5689425"/>
            <a:ext cx="14905101" cy="4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Review weaknesses systematically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6452873"/>
            <a:ext cx="1205827" cy="1447143"/>
            <a:chOff x="0" y="0"/>
            <a:chExt cx="1607769" cy="192952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07820" cy="1929511"/>
            </a:xfrm>
            <a:custGeom>
              <a:avLst/>
              <a:gdLst/>
              <a:ahLst/>
              <a:cxnLst/>
              <a:rect r="r" b="b" t="t" l="l"/>
              <a:pathLst>
                <a:path h="1929511" w="1607820">
                  <a:moveTo>
                    <a:pt x="0" y="0"/>
                  </a:moveTo>
                  <a:lnTo>
                    <a:pt x="1607820" y="0"/>
                  </a:lnTo>
                  <a:lnTo>
                    <a:pt x="1607820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6" t="0" r="-13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403758" y="6665433"/>
            <a:ext cx="14905101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Risk Analysis &amp; Mitigation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03758" y="7136568"/>
            <a:ext cx="14905101" cy="4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Prioritise findings and recommend controls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991" y="7900016"/>
            <a:ext cx="1205827" cy="1447143"/>
            <a:chOff x="0" y="0"/>
            <a:chExt cx="1607769" cy="192952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07820" cy="1929511"/>
            </a:xfrm>
            <a:custGeom>
              <a:avLst/>
              <a:gdLst/>
              <a:ahLst/>
              <a:cxnLst/>
              <a:rect r="r" b="b" t="t" l="l"/>
              <a:pathLst>
                <a:path h="1929511" w="1607820">
                  <a:moveTo>
                    <a:pt x="0" y="0"/>
                  </a:moveTo>
                  <a:lnTo>
                    <a:pt x="1607820" y="0"/>
                  </a:lnTo>
                  <a:lnTo>
                    <a:pt x="1607820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6" t="0" r="-133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403758" y="8112585"/>
            <a:ext cx="14905101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Validation &amp;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03758" y="8583720"/>
            <a:ext cx="14905101" cy="4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Verify fixes and record findings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12341" y="2498693"/>
            <a:ext cx="9348416" cy="5297510"/>
            <a:chOff x="0" y="0"/>
            <a:chExt cx="12464555" cy="706334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464542" cy="7063359"/>
            </a:xfrm>
            <a:custGeom>
              <a:avLst/>
              <a:gdLst/>
              <a:ahLst/>
              <a:cxnLst/>
              <a:rect r="r" b="b" t="t" l="l"/>
              <a:pathLst>
                <a:path h="7063359" w="12464542">
                  <a:moveTo>
                    <a:pt x="0" y="0"/>
                  </a:moveTo>
                  <a:lnTo>
                    <a:pt x="12464542" y="0"/>
                  </a:lnTo>
                  <a:lnTo>
                    <a:pt x="12464542" y="7063359"/>
                  </a:lnTo>
                  <a:lnTo>
                    <a:pt x="0" y="7063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" r="0" b="-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012673" y="1118302"/>
            <a:ext cx="5305568" cy="162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Major Internship Responsibilities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2108437" y="3014110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842415" y="2934853"/>
            <a:ext cx="4475817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Studied cybersecurity fundamentals, threats and defensive controls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2108437" y="4252436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42415" y="4173179"/>
            <a:ext cx="4475817" cy="123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Analysed attack vectors: phishing, malware, credential attacks, social engineering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108437" y="5876534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42415" y="5797267"/>
            <a:ext cx="4475817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Reviewed network security, ports, protocols and traffic concepts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2108437" y="7114851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842415" y="7035594"/>
            <a:ext cx="4475817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Practised structured vulnerability identification and classification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108437" y="8353177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4"/>
                </a:lnTo>
                <a:lnTo>
                  <a:pt x="0" y="382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318" t="0" r="-732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42415" y="8273920"/>
            <a:ext cx="4475817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Documented security observations and mapped to practical mitigations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54669"/>
            <a:ext cx="16315868" cy="87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Expected Outcomes &amp; Skills Gained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8219" y="2232974"/>
            <a:ext cx="5277421" cy="3889238"/>
            <a:chOff x="0" y="0"/>
            <a:chExt cx="7036562" cy="51856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36435" cy="5185537"/>
            </a:xfrm>
            <a:custGeom>
              <a:avLst/>
              <a:gdLst/>
              <a:ahLst/>
              <a:cxnLst/>
              <a:rect r="r" b="b" t="t" l="l"/>
              <a:pathLst>
                <a:path h="5185537" w="7036435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6885178" y="0"/>
                  </a:lnTo>
                  <a:cubicBezTo>
                    <a:pt x="6968744" y="0"/>
                    <a:pt x="7036435" y="67691"/>
                    <a:pt x="7036435" y="151257"/>
                  </a:cubicBezTo>
                  <a:lnTo>
                    <a:pt x="7036435" y="5034280"/>
                  </a:lnTo>
                  <a:cubicBezTo>
                    <a:pt x="7036435" y="5117846"/>
                    <a:pt x="6968744" y="5185537"/>
                    <a:pt x="6885178" y="5185537"/>
                  </a:cubicBezTo>
                  <a:lnTo>
                    <a:pt x="151257" y="5185537"/>
                  </a:lnTo>
                  <a:cubicBezTo>
                    <a:pt x="67691" y="5185664"/>
                    <a:pt x="0" y="5117846"/>
                    <a:pt x="0" y="5034280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71959" y="2516715"/>
            <a:ext cx="808596" cy="808625"/>
            <a:chOff x="0" y="0"/>
            <a:chExt cx="1078128" cy="10781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8103" cy="1078230"/>
            </a:xfrm>
            <a:custGeom>
              <a:avLst/>
              <a:gdLst/>
              <a:ahLst/>
              <a:cxnLst/>
              <a:rect r="r" b="b" t="t" l="l"/>
              <a:pathLst>
                <a:path h="1078230" w="1078103">
                  <a:moveTo>
                    <a:pt x="0" y="539115"/>
                  </a:moveTo>
                  <a:cubicBezTo>
                    <a:pt x="0" y="241300"/>
                    <a:pt x="241300" y="0"/>
                    <a:pt x="539115" y="0"/>
                  </a:cubicBezTo>
                  <a:cubicBezTo>
                    <a:pt x="836930" y="0"/>
                    <a:pt x="1078103" y="241300"/>
                    <a:pt x="1078103" y="539115"/>
                  </a:cubicBezTo>
                  <a:cubicBezTo>
                    <a:pt x="1078103" y="836930"/>
                    <a:pt x="836803" y="1078230"/>
                    <a:pt x="538988" y="1078230"/>
                  </a:cubicBezTo>
                  <a:cubicBezTo>
                    <a:pt x="241173" y="1078230"/>
                    <a:pt x="0" y="836803"/>
                    <a:pt x="0" y="539115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494320" y="2738942"/>
            <a:ext cx="363865" cy="363874"/>
          </a:xfrm>
          <a:custGeom>
            <a:avLst/>
            <a:gdLst/>
            <a:ahLst/>
            <a:cxnLst/>
            <a:rect r="r" b="b" t="t" l="l"/>
            <a:pathLst>
              <a:path h="363874" w="363865">
                <a:moveTo>
                  <a:pt x="0" y="0"/>
                </a:moveTo>
                <a:lnTo>
                  <a:pt x="363865" y="0"/>
                </a:lnTo>
                <a:lnTo>
                  <a:pt x="363865" y="363874"/>
                </a:lnTo>
                <a:lnTo>
                  <a:pt x="0" y="363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693" t="0" r="-769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1959" y="3562321"/>
            <a:ext cx="4709951" cy="86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Terminology &amp; Risk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959" y="4500867"/>
            <a:ext cx="4709951" cy="13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Improved understanding of cybersecurity terminology and risk management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2138" y="2232974"/>
            <a:ext cx="5277421" cy="3889238"/>
            <a:chOff x="0" y="0"/>
            <a:chExt cx="7036562" cy="51856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36435" cy="5185537"/>
            </a:xfrm>
            <a:custGeom>
              <a:avLst/>
              <a:gdLst/>
              <a:ahLst/>
              <a:cxnLst/>
              <a:rect r="r" b="b" t="t" l="l"/>
              <a:pathLst>
                <a:path h="5185537" w="7036435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6885178" y="0"/>
                  </a:lnTo>
                  <a:cubicBezTo>
                    <a:pt x="6968744" y="0"/>
                    <a:pt x="7036435" y="67691"/>
                    <a:pt x="7036435" y="151257"/>
                  </a:cubicBezTo>
                  <a:lnTo>
                    <a:pt x="7036435" y="5034280"/>
                  </a:lnTo>
                  <a:cubicBezTo>
                    <a:pt x="7036435" y="5117846"/>
                    <a:pt x="6968744" y="5185537"/>
                    <a:pt x="6885178" y="5185537"/>
                  </a:cubicBezTo>
                  <a:lnTo>
                    <a:pt x="151257" y="5185537"/>
                  </a:lnTo>
                  <a:cubicBezTo>
                    <a:pt x="67691" y="5185664"/>
                    <a:pt x="0" y="5117846"/>
                    <a:pt x="0" y="5034280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795868" y="2516715"/>
            <a:ext cx="808596" cy="808625"/>
            <a:chOff x="0" y="0"/>
            <a:chExt cx="1078128" cy="10781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103" cy="1078230"/>
            </a:xfrm>
            <a:custGeom>
              <a:avLst/>
              <a:gdLst/>
              <a:ahLst/>
              <a:cxnLst/>
              <a:rect r="r" b="b" t="t" l="l"/>
              <a:pathLst>
                <a:path h="1078230" w="1078103">
                  <a:moveTo>
                    <a:pt x="0" y="539115"/>
                  </a:moveTo>
                  <a:cubicBezTo>
                    <a:pt x="0" y="241300"/>
                    <a:pt x="241300" y="0"/>
                    <a:pt x="539115" y="0"/>
                  </a:cubicBezTo>
                  <a:cubicBezTo>
                    <a:pt x="836930" y="0"/>
                    <a:pt x="1078103" y="241300"/>
                    <a:pt x="1078103" y="539115"/>
                  </a:cubicBezTo>
                  <a:cubicBezTo>
                    <a:pt x="1078103" y="836930"/>
                    <a:pt x="836803" y="1078230"/>
                    <a:pt x="538988" y="1078230"/>
                  </a:cubicBezTo>
                  <a:cubicBezTo>
                    <a:pt x="241173" y="1078230"/>
                    <a:pt x="0" y="836803"/>
                    <a:pt x="0" y="539115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7018239" y="2738942"/>
            <a:ext cx="363865" cy="363874"/>
          </a:xfrm>
          <a:custGeom>
            <a:avLst/>
            <a:gdLst/>
            <a:ahLst/>
            <a:cxnLst/>
            <a:rect r="r" b="b" t="t" l="l"/>
            <a:pathLst>
              <a:path h="363874" w="363865">
                <a:moveTo>
                  <a:pt x="0" y="0"/>
                </a:moveTo>
                <a:lnTo>
                  <a:pt x="363865" y="0"/>
                </a:lnTo>
                <a:lnTo>
                  <a:pt x="363865" y="363874"/>
                </a:lnTo>
                <a:lnTo>
                  <a:pt x="0" y="363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280" r="0" b="-128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95868" y="3562321"/>
            <a:ext cx="4709951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Weakness Identification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95868" y="4079796"/>
            <a:ext cx="4709951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Ability to identify common security weaknesses and explain their impact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6057" y="2232974"/>
            <a:ext cx="5277421" cy="3889238"/>
            <a:chOff x="0" y="0"/>
            <a:chExt cx="7036562" cy="51856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36435" cy="5185537"/>
            </a:xfrm>
            <a:custGeom>
              <a:avLst/>
              <a:gdLst/>
              <a:ahLst/>
              <a:cxnLst/>
              <a:rect r="r" b="b" t="t" l="l"/>
              <a:pathLst>
                <a:path h="5185537" w="7036435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6885178" y="0"/>
                  </a:lnTo>
                  <a:cubicBezTo>
                    <a:pt x="6968744" y="0"/>
                    <a:pt x="7036435" y="67691"/>
                    <a:pt x="7036435" y="151257"/>
                  </a:cubicBezTo>
                  <a:lnTo>
                    <a:pt x="7036435" y="5034280"/>
                  </a:lnTo>
                  <a:cubicBezTo>
                    <a:pt x="7036435" y="5117846"/>
                    <a:pt x="6968744" y="5185537"/>
                    <a:pt x="6885178" y="5185537"/>
                  </a:cubicBezTo>
                  <a:lnTo>
                    <a:pt x="151257" y="5185537"/>
                  </a:lnTo>
                  <a:cubicBezTo>
                    <a:pt x="67691" y="5185664"/>
                    <a:pt x="0" y="5117846"/>
                    <a:pt x="0" y="5034280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319787" y="2516715"/>
            <a:ext cx="808596" cy="808625"/>
            <a:chOff x="0" y="0"/>
            <a:chExt cx="1078128" cy="10781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8103" cy="1078230"/>
            </a:xfrm>
            <a:custGeom>
              <a:avLst/>
              <a:gdLst/>
              <a:ahLst/>
              <a:cxnLst/>
              <a:rect r="r" b="b" t="t" l="l"/>
              <a:pathLst>
                <a:path h="1078230" w="1078103">
                  <a:moveTo>
                    <a:pt x="0" y="539115"/>
                  </a:moveTo>
                  <a:cubicBezTo>
                    <a:pt x="0" y="241300"/>
                    <a:pt x="241300" y="0"/>
                    <a:pt x="539115" y="0"/>
                  </a:cubicBezTo>
                  <a:cubicBezTo>
                    <a:pt x="836930" y="0"/>
                    <a:pt x="1078103" y="241300"/>
                    <a:pt x="1078103" y="539115"/>
                  </a:cubicBezTo>
                  <a:cubicBezTo>
                    <a:pt x="1078103" y="836930"/>
                    <a:pt x="836803" y="1078230"/>
                    <a:pt x="538988" y="1078230"/>
                  </a:cubicBezTo>
                  <a:cubicBezTo>
                    <a:pt x="241173" y="1078230"/>
                    <a:pt x="0" y="836803"/>
                    <a:pt x="0" y="539115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2542149" y="2738942"/>
            <a:ext cx="363865" cy="363874"/>
          </a:xfrm>
          <a:custGeom>
            <a:avLst/>
            <a:gdLst/>
            <a:ahLst/>
            <a:cxnLst/>
            <a:rect r="r" b="b" t="t" l="l"/>
            <a:pathLst>
              <a:path h="363874" w="363865">
                <a:moveTo>
                  <a:pt x="0" y="0"/>
                </a:moveTo>
                <a:lnTo>
                  <a:pt x="363864" y="0"/>
                </a:lnTo>
                <a:lnTo>
                  <a:pt x="363864" y="363874"/>
                </a:lnTo>
                <a:lnTo>
                  <a:pt x="0" y="363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319787" y="3562321"/>
            <a:ext cx="4709951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Threat Awareness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19787" y="4079796"/>
            <a:ext cx="4709951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Enhanced awareness of network, web and social-engineering threats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8219" y="6368720"/>
            <a:ext cx="8039376" cy="3047705"/>
            <a:chOff x="0" y="0"/>
            <a:chExt cx="10719168" cy="40636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19181" cy="4063619"/>
            </a:xfrm>
            <a:custGeom>
              <a:avLst/>
              <a:gdLst/>
              <a:ahLst/>
              <a:cxnLst/>
              <a:rect r="r" b="b" t="t" l="l"/>
              <a:pathLst>
                <a:path h="4063619" w="10719181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0567797" y="0"/>
                  </a:lnTo>
                  <a:cubicBezTo>
                    <a:pt x="10651363" y="0"/>
                    <a:pt x="10719181" y="67818"/>
                    <a:pt x="10719181" y="151384"/>
                  </a:cubicBezTo>
                  <a:lnTo>
                    <a:pt x="10719181" y="3912235"/>
                  </a:lnTo>
                  <a:cubicBezTo>
                    <a:pt x="10719181" y="3995801"/>
                    <a:pt x="10651363" y="4063619"/>
                    <a:pt x="10567797" y="4063619"/>
                  </a:cubicBezTo>
                  <a:lnTo>
                    <a:pt x="151384" y="4063619"/>
                  </a:lnTo>
                  <a:cubicBezTo>
                    <a:pt x="67818" y="4063619"/>
                    <a:pt x="0" y="3995801"/>
                    <a:pt x="0" y="3912235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71959" y="6652460"/>
            <a:ext cx="808596" cy="808625"/>
            <a:chOff x="0" y="0"/>
            <a:chExt cx="1078128" cy="10781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8103" cy="1078230"/>
            </a:xfrm>
            <a:custGeom>
              <a:avLst/>
              <a:gdLst/>
              <a:ahLst/>
              <a:cxnLst/>
              <a:rect r="r" b="b" t="t" l="l"/>
              <a:pathLst>
                <a:path h="1078230" w="1078103">
                  <a:moveTo>
                    <a:pt x="0" y="539115"/>
                  </a:moveTo>
                  <a:cubicBezTo>
                    <a:pt x="0" y="241300"/>
                    <a:pt x="241300" y="0"/>
                    <a:pt x="539115" y="0"/>
                  </a:cubicBezTo>
                  <a:cubicBezTo>
                    <a:pt x="836930" y="0"/>
                    <a:pt x="1078103" y="241300"/>
                    <a:pt x="1078103" y="539115"/>
                  </a:cubicBezTo>
                  <a:cubicBezTo>
                    <a:pt x="1078103" y="836930"/>
                    <a:pt x="836803" y="1078230"/>
                    <a:pt x="538988" y="1078230"/>
                  </a:cubicBezTo>
                  <a:cubicBezTo>
                    <a:pt x="241173" y="1078230"/>
                    <a:pt x="0" y="836803"/>
                    <a:pt x="0" y="539115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494320" y="6874678"/>
            <a:ext cx="363865" cy="363874"/>
          </a:xfrm>
          <a:custGeom>
            <a:avLst/>
            <a:gdLst/>
            <a:ahLst/>
            <a:cxnLst/>
            <a:rect r="r" b="b" t="t" l="l"/>
            <a:pathLst>
              <a:path h="363874" w="363865">
                <a:moveTo>
                  <a:pt x="0" y="0"/>
                </a:moveTo>
                <a:lnTo>
                  <a:pt x="363865" y="0"/>
                </a:lnTo>
                <a:lnTo>
                  <a:pt x="363865" y="363874"/>
                </a:lnTo>
                <a:lnTo>
                  <a:pt x="0" y="3638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845" r="0" b="-3842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71959" y="7698057"/>
            <a:ext cx="7471915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Remediation Reporting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1959" y="8215541"/>
            <a:ext cx="7471915" cy="91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Skill in structuring security findings into remediation recommendations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74092" y="6368720"/>
            <a:ext cx="8039376" cy="3047705"/>
            <a:chOff x="0" y="0"/>
            <a:chExt cx="10719168" cy="4063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19181" cy="4063619"/>
            </a:xfrm>
            <a:custGeom>
              <a:avLst/>
              <a:gdLst/>
              <a:ahLst/>
              <a:cxnLst/>
              <a:rect r="r" b="b" t="t" l="l"/>
              <a:pathLst>
                <a:path h="4063619" w="10719181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10567797" y="0"/>
                  </a:lnTo>
                  <a:cubicBezTo>
                    <a:pt x="10651363" y="0"/>
                    <a:pt x="10719181" y="67818"/>
                    <a:pt x="10719181" y="151384"/>
                  </a:cubicBezTo>
                  <a:lnTo>
                    <a:pt x="10719181" y="3912235"/>
                  </a:lnTo>
                  <a:cubicBezTo>
                    <a:pt x="10719181" y="3995801"/>
                    <a:pt x="10651363" y="4063619"/>
                    <a:pt x="10567797" y="4063619"/>
                  </a:cubicBezTo>
                  <a:lnTo>
                    <a:pt x="151384" y="4063619"/>
                  </a:lnTo>
                  <a:cubicBezTo>
                    <a:pt x="67818" y="4063619"/>
                    <a:pt x="0" y="3995801"/>
                    <a:pt x="0" y="3912235"/>
                  </a:cubicBezTo>
                  <a:close/>
                </a:path>
              </a:pathLst>
            </a:custGeom>
            <a:solidFill>
              <a:srgbClr val="E1E1EA"/>
            </a:solidFill>
            <a:ln w="9532" cap="sq">
              <a:solidFill>
                <a:srgbClr val="C7C7D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57823" y="6652460"/>
            <a:ext cx="808596" cy="808625"/>
            <a:chOff x="0" y="0"/>
            <a:chExt cx="1078128" cy="10781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8103" cy="1078230"/>
            </a:xfrm>
            <a:custGeom>
              <a:avLst/>
              <a:gdLst/>
              <a:ahLst/>
              <a:cxnLst/>
              <a:rect r="r" b="b" t="t" l="l"/>
              <a:pathLst>
                <a:path h="1078230" w="1078103">
                  <a:moveTo>
                    <a:pt x="0" y="539115"/>
                  </a:moveTo>
                  <a:cubicBezTo>
                    <a:pt x="0" y="241300"/>
                    <a:pt x="241300" y="0"/>
                    <a:pt x="539115" y="0"/>
                  </a:cubicBezTo>
                  <a:cubicBezTo>
                    <a:pt x="836930" y="0"/>
                    <a:pt x="1078103" y="241300"/>
                    <a:pt x="1078103" y="539115"/>
                  </a:cubicBezTo>
                  <a:cubicBezTo>
                    <a:pt x="1078103" y="836930"/>
                    <a:pt x="836803" y="1078230"/>
                    <a:pt x="538988" y="1078230"/>
                  </a:cubicBezTo>
                  <a:cubicBezTo>
                    <a:pt x="241173" y="1078230"/>
                    <a:pt x="0" y="836803"/>
                    <a:pt x="0" y="539115"/>
                  </a:cubicBezTo>
                  <a:close/>
                </a:path>
              </a:pathLst>
            </a:custGeom>
            <a:solidFill>
              <a:srgbClr val="1B1B27"/>
            </a:solidFill>
          </p:spPr>
        </p:sp>
      </p:grpSp>
      <p:sp>
        <p:nvSpPr>
          <p:cNvPr name="Freeform 39" id="39" descr="preencoded.png"/>
          <p:cNvSpPr/>
          <p:nvPr/>
        </p:nvSpPr>
        <p:spPr>
          <a:xfrm flipH="false" flipV="false" rot="0">
            <a:off x="9780194" y="6874678"/>
            <a:ext cx="363865" cy="363874"/>
          </a:xfrm>
          <a:custGeom>
            <a:avLst/>
            <a:gdLst/>
            <a:ahLst/>
            <a:cxnLst/>
            <a:rect r="r" b="b" t="t" l="l"/>
            <a:pathLst>
              <a:path h="363874" w="363865">
                <a:moveTo>
                  <a:pt x="0" y="0"/>
                </a:moveTo>
                <a:lnTo>
                  <a:pt x="363864" y="0"/>
                </a:lnTo>
                <a:lnTo>
                  <a:pt x="363864" y="363874"/>
                </a:lnTo>
                <a:lnTo>
                  <a:pt x="0" y="3638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848" t="0" r="-3845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9557823" y="7698057"/>
            <a:ext cx="7471915" cy="44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Analytical Thinking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57823" y="8215541"/>
            <a:ext cx="7471915" cy="4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Stronger analytical thinking and responsible-security practices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1134828"/>
            <a:ext cx="9452677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Takeaways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7856182" y="1983048"/>
            <a:ext cx="9452677" cy="1685306"/>
          </a:xfrm>
          <a:custGeom>
            <a:avLst/>
            <a:gdLst/>
            <a:ahLst/>
            <a:cxnLst/>
            <a:rect r="r" b="b" t="t" l="l"/>
            <a:pathLst>
              <a:path h="1685306" w="9452677">
                <a:moveTo>
                  <a:pt x="0" y="0"/>
                </a:moveTo>
                <a:lnTo>
                  <a:pt x="9452677" y="0"/>
                </a:lnTo>
                <a:lnTo>
                  <a:pt x="9452677" y="1685306"/>
                </a:lnTo>
                <a:lnTo>
                  <a:pt x="0" y="168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3" r="0" b="-553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463367" y="2131990"/>
            <a:ext cx="238306" cy="297894"/>
            <a:chOff x="0" y="0"/>
            <a:chExt cx="317741" cy="3971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740" cy="397186"/>
            </a:xfrm>
            <a:custGeom>
              <a:avLst/>
              <a:gdLst/>
              <a:ahLst/>
              <a:cxnLst/>
              <a:rect r="r" b="b" t="t" l="l"/>
              <a:pathLst>
                <a:path h="397186" w="317740">
                  <a:moveTo>
                    <a:pt x="0" y="0"/>
                  </a:moveTo>
                  <a:lnTo>
                    <a:pt x="317740" y="0"/>
                  </a:lnTo>
                  <a:lnTo>
                    <a:pt x="317740" y="397186"/>
                  </a:lnTo>
                  <a:lnTo>
                    <a:pt x="0" y="39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6" t="0" r="-110386" b="-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17741" cy="406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083315" y="2758316"/>
            <a:ext cx="8998401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Prevention &amp; Continuous Improvement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3315" y="3132925"/>
            <a:ext cx="8998401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Cybersecurity requires prevention, secure configuration, user awareness and continuous improvement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856182" y="3807323"/>
            <a:ext cx="9452677" cy="1685306"/>
          </a:xfrm>
          <a:custGeom>
            <a:avLst/>
            <a:gdLst/>
            <a:ahLst/>
            <a:cxnLst/>
            <a:rect r="r" b="b" t="t" l="l"/>
            <a:pathLst>
              <a:path h="1685306" w="9452677">
                <a:moveTo>
                  <a:pt x="0" y="0"/>
                </a:moveTo>
                <a:lnTo>
                  <a:pt x="9452677" y="0"/>
                </a:lnTo>
                <a:lnTo>
                  <a:pt x="9452677" y="1685306"/>
                </a:lnTo>
                <a:lnTo>
                  <a:pt x="0" y="168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3" r="0" b="-553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463367" y="3956266"/>
            <a:ext cx="238306" cy="297894"/>
            <a:chOff x="0" y="0"/>
            <a:chExt cx="317741" cy="3971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740" cy="397186"/>
            </a:xfrm>
            <a:custGeom>
              <a:avLst/>
              <a:gdLst/>
              <a:ahLst/>
              <a:cxnLst/>
              <a:rect r="r" b="b" t="t" l="l"/>
              <a:pathLst>
                <a:path h="397186" w="317740">
                  <a:moveTo>
                    <a:pt x="0" y="0"/>
                  </a:moveTo>
                  <a:lnTo>
                    <a:pt x="317740" y="0"/>
                  </a:lnTo>
                  <a:lnTo>
                    <a:pt x="317740" y="397186"/>
                  </a:lnTo>
                  <a:lnTo>
                    <a:pt x="0" y="39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6" t="0" r="-110386" b="-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17741" cy="406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83315" y="4582592"/>
            <a:ext cx="8998401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Technical + Human Controls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83315" y="4957201"/>
            <a:ext cx="8998401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Effective security combines technical controls with human awareness and ethical practices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7856182" y="5631590"/>
            <a:ext cx="9452677" cy="1685306"/>
          </a:xfrm>
          <a:custGeom>
            <a:avLst/>
            <a:gdLst/>
            <a:ahLst/>
            <a:cxnLst/>
            <a:rect r="r" b="b" t="t" l="l"/>
            <a:pathLst>
              <a:path h="1685306" w="9452677">
                <a:moveTo>
                  <a:pt x="0" y="0"/>
                </a:moveTo>
                <a:lnTo>
                  <a:pt x="9452677" y="0"/>
                </a:lnTo>
                <a:lnTo>
                  <a:pt x="9452677" y="1685305"/>
                </a:lnTo>
                <a:lnTo>
                  <a:pt x="0" y="1685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3" r="0" b="-553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463367" y="5780532"/>
            <a:ext cx="238306" cy="297894"/>
            <a:chOff x="0" y="0"/>
            <a:chExt cx="317741" cy="397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7740" cy="397186"/>
            </a:xfrm>
            <a:custGeom>
              <a:avLst/>
              <a:gdLst/>
              <a:ahLst/>
              <a:cxnLst/>
              <a:rect r="r" b="b" t="t" l="l"/>
              <a:pathLst>
                <a:path h="397186" w="317740">
                  <a:moveTo>
                    <a:pt x="0" y="0"/>
                  </a:moveTo>
                  <a:lnTo>
                    <a:pt x="317740" y="0"/>
                  </a:lnTo>
                  <a:lnTo>
                    <a:pt x="317740" y="397186"/>
                  </a:lnTo>
                  <a:lnTo>
                    <a:pt x="0" y="39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6" t="0" r="-110386" b="-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17741" cy="406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083315" y="6406867"/>
            <a:ext cx="8998401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Structured Methodology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83315" y="6781476"/>
            <a:ext cx="8998401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Structured methodology ensures findings are documented and actionable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7856182" y="7455865"/>
            <a:ext cx="9452677" cy="1685306"/>
          </a:xfrm>
          <a:custGeom>
            <a:avLst/>
            <a:gdLst/>
            <a:ahLst/>
            <a:cxnLst/>
            <a:rect r="r" b="b" t="t" l="l"/>
            <a:pathLst>
              <a:path h="1685306" w="9452677">
                <a:moveTo>
                  <a:pt x="0" y="0"/>
                </a:moveTo>
                <a:lnTo>
                  <a:pt x="9452677" y="0"/>
                </a:lnTo>
                <a:lnTo>
                  <a:pt x="9452677" y="1685306"/>
                </a:lnTo>
                <a:lnTo>
                  <a:pt x="0" y="1685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3" r="0" b="-553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463367" y="7604808"/>
            <a:ext cx="238306" cy="297894"/>
            <a:chOff x="0" y="0"/>
            <a:chExt cx="317741" cy="3971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7740" cy="397186"/>
            </a:xfrm>
            <a:custGeom>
              <a:avLst/>
              <a:gdLst/>
              <a:ahLst/>
              <a:cxnLst/>
              <a:rect r="r" b="b" t="t" l="l"/>
              <a:pathLst>
                <a:path h="397186" w="317740">
                  <a:moveTo>
                    <a:pt x="0" y="0"/>
                  </a:moveTo>
                  <a:lnTo>
                    <a:pt x="317740" y="0"/>
                  </a:lnTo>
                  <a:lnTo>
                    <a:pt x="317740" y="397186"/>
                  </a:lnTo>
                  <a:lnTo>
                    <a:pt x="0" y="39718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86" t="0" r="-110386" b="-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17741" cy="406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083315" y="8231134"/>
            <a:ext cx="8998401" cy="329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Ethics &amp; Responsible Disclosure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83315" y="8605742"/>
            <a:ext cx="8998401" cy="30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Authorization and responsible disclosure are essential in security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DAHU0fMt22A</dc:identifier>
  <dcterms:modified xsi:type="dcterms:W3CDTF">2011-08-01T06:04:30Z</dcterms:modified>
  <cp:revision>1</cp:revision>
  <dc:title>Cybersecurity-Internship-Report.pptx</dc:title>
</cp:coreProperties>
</file>